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89" r:id="rId2"/>
    <p:sldId id="290" r:id="rId3"/>
  </p:sldIdLst>
  <p:sldSz cx="10799763" cy="7199313"/>
  <p:notesSz cx="6858000" cy="9144000"/>
  <p:embeddedFontLst>
    <p:embeddedFont>
      <p:font typeface="Neue Haas Grotesk Text Pro" panose="020B0504020202020204" pitchFamily="34" charset="0"/>
      <p:regular r:id="rId6"/>
      <p:bold r:id="rId7"/>
      <p:italic r:id="rId8"/>
      <p:boldItalic r:id="rId9"/>
    </p:embeddedFont>
    <p:embeddedFont>
      <p:font typeface="Nexa Extra Light" panose="00000200000000000000" pitchFamily="2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5" userDrawn="1">
          <p15:clr>
            <a:srgbClr val="A4A3A4"/>
          </p15:clr>
        </p15:guide>
        <p15:guide id="2" pos="340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9C6D"/>
    <a:srgbClr val="194A68"/>
    <a:srgbClr val="FFF4E4"/>
    <a:srgbClr val="3A3A3A"/>
    <a:srgbClr val="BABABA"/>
    <a:srgbClr val="5287A8"/>
    <a:srgbClr val="156082"/>
    <a:srgbClr val="ACD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21" autoAdjust="0"/>
    <p:restoredTop sz="94689" autoAdjust="0"/>
  </p:normalViewPr>
  <p:slideViewPr>
    <p:cSldViewPr snapToGrid="0" showGuides="1">
      <p:cViewPr varScale="1">
        <p:scale>
          <a:sx n="81" d="100"/>
          <a:sy n="81" d="100"/>
        </p:scale>
        <p:origin x="53" y="106"/>
      </p:cViewPr>
      <p:guideLst>
        <p:guide orient="horz" pos="4535"/>
        <p:guide pos="34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97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0926212-3CAC-B939-B5E1-F1720D68DE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175E92-FBFA-B728-C403-36369443AD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F376A-9283-4FA1-AAEC-4E7F5E2277A4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4FEDE3-4DA1-9659-91C2-0C63D140D6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AFF285-481C-7CFC-452F-986862EC9C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AD3FB-509D-4838-965A-63C043B508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61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AD36F-0D89-450E-ADCC-FBE6048D914F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52032-2AAE-417C-B2A0-2018F8FEA3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60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552032-2AAE-417C-B2A0-2018F8FEA36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7765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41D2D-B8CC-D663-90AB-E2FC9EE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F9D5E4-7993-C999-3203-CC196D8B2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F5528E-C8E6-877E-E779-13FA3750F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Imaginário comum da IA: trapaça – antiético – mentes preguiçosas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0077BD-F471-AC95-2007-4266EC6AD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552032-2AAE-417C-B2A0-2018F8FEA367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58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178222"/>
            <a:ext cx="9179799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781306"/>
            <a:ext cx="8099822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5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93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794831"/>
            <a:ext cx="9314796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4817876"/>
            <a:ext cx="9314796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34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916484"/>
            <a:ext cx="4589899" cy="456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916484"/>
            <a:ext cx="4589899" cy="456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20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83299"/>
            <a:ext cx="9314796" cy="139153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1764832"/>
            <a:ext cx="4568805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2629749"/>
            <a:ext cx="4568805" cy="386796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1764832"/>
            <a:ext cx="459130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2629749"/>
            <a:ext cx="4591306" cy="386796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317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96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049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479954"/>
            <a:ext cx="3483205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036570"/>
            <a:ext cx="5467380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159794"/>
            <a:ext cx="3483205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008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479954"/>
            <a:ext cx="3483205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036570"/>
            <a:ext cx="5467380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2159794"/>
            <a:ext cx="3483205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89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89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383297"/>
            <a:ext cx="2328699" cy="610108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83297"/>
            <a:ext cx="6851100" cy="610108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25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83299"/>
            <a:ext cx="9314796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916484"/>
            <a:ext cx="9314796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6672698"/>
            <a:ext cx="242994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94DF3-B6D8-4890-9AF7-6E86003CF95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6672698"/>
            <a:ext cx="364492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6672698"/>
            <a:ext cx="242994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762C8-762A-4CDB-80E4-8436D898EF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96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1A3B27C-6660-F0F5-5858-B76F370503E5}"/>
              </a:ext>
            </a:extLst>
          </p:cNvPr>
          <p:cNvSpPr/>
          <p:nvPr/>
        </p:nvSpPr>
        <p:spPr>
          <a:xfrm>
            <a:off x="5795173" y="1942065"/>
            <a:ext cx="860323" cy="3119267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71825A8-EDEE-8AB4-58FE-723AA781F46F}"/>
              </a:ext>
            </a:extLst>
          </p:cNvPr>
          <p:cNvSpPr/>
          <p:nvPr/>
        </p:nvSpPr>
        <p:spPr>
          <a:xfrm>
            <a:off x="6782762" y="1474955"/>
            <a:ext cx="860323" cy="405348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671A5AF-9C47-1A8F-77D0-5E7644F89856}"/>
              </a:ext>
            </a:extLst>
          </p:cNvPr>
          <p:cNvSpPr/>
          <p:nvPr/>
        </p:nvSpPr>
        <p:spPr>
          <a:xfrm>
            <a:off x="7770351" y="1474955"/>
            <a:ext cx="860323" cy="405348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0DE8887-EB35-A655-475C-3E9CBC597C60}"/>
              </a:ext>
            </a:extLst>
          </p:cNvPr>
          <p:cNvSpPr/>
          <p:nvPr/>
        </p:nvSpPr>
        <p:spPr>
          <a:xfrm>
            <a:off x="8757940" y="1474955"/>
            <a:ext cx="860323" cy="405348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53BBB00-DCB2-9946-0747-F909308B7B7A}"/>
              </a:ext>
            </a:extLst>
          </p:cNvPr>
          <p:cNvSpPr/>
          <p:nvPr/>
        </p:nvSpPr>
        <p:spPr>
          <a:xfrm>
            <a:off x="9745529" y="1792729"/>
            <a:ext cx="860323" cy="3417938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E35F836-7E40-0FE4-8764-90D4A25805B6}"/>
              </a:ext>
            </a:extLst>
          </p:cNvPr>
          <p:cNvSpPr/>
          <p:nvPr/>
        </p:nvSpPr>
        <p:spPr>
          <a:xfrm>
            <a:off x="4807584" y="1687248"/>
            <a:ext cx="860323" cy="362890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5F34BD6-FBA0-C859-987E-840C46FBCF3A}"/>
              </a:ext>
            </a:extLst>
          </p:cNvPr>
          <p:cNvSpPr txBox="1"/>
          <p:nvPr/>
        </p:nvSpPr>
        <p:spPr>
          <a:xfrm>
            <a:off x="1154779" y="5061332"/>
            <a:ext cx="84634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BE9C6D"/>
                </a:solidFill>
                <a:latin typeface="Neue Haas Grotesk Text Pro" panose="020B0504020202020204" pitchFamily="34" charset="0"/>
              </a:rPr>
              <a:t>MULTIMODALIDADE</a:t>
            </a:r>
          </a:p>
          <a:p>
            <a:pPr algn="ctr"/>
            <a:r>
              <a:rPr lang="pt-BR" sz="3600" b="1" dirty="0">
                <a:solidFill>
                  <a:schemeClr val="bg1"/>
                </a:solidFill>
                <a:latin typeface="Neue Haas Grotesk Text Pro" panose="020B0504020202020204" pitchFamily="34" charset="0"/>
              </a:rPr>
              <a:t>DOS LLMS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593667-8344-D095-5801-7A17A296B1D1}"/>
              </a:ext>
            </a:extLst>
          </p:cNvPr>
          <p:cNvSpPr txBox="1"/>
          <p:nvPr/>
        </p:nvSpPr>
        <p:spPr>
          <a:xfrm>
            <a:off x="2163869" y="6509188"/>
            <a:ext cx="6036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>
                    <a:lumMod val="95000"/>
                  </a:schemeClr>
                </a:solidFill>
                <a:latin typeface="Nexa Extra Light" panose="00000200000000000000" pitchFamily="2" charset="0"/>
              </a:rPr>
              <a:t>GEORGE MARMELSTEIN</a:t>
            </a:r>
          </a:p>
        </p:txBody>
      </p:sp>
    </p:spTree>
    <p:extLst>
      <p:ext uri="{BB962C8B-B14F-4D97-AF65-F5344CB8AC3E}">
        <p14:creationId xmlns:p14="http://schemas.microsoft.com/office/powerpoint/2010/main" val="3906768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7F91A-B0BF-6123-8CD2-388F580B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tângulo 64">
            <a:extLst>
              <a:ext uri="{FF2B5EF4-FFF2-40B4-BE49-F238E27FC236}">
                <a16:creationId xmlns:a16="http://schemas.microsoft.com/office/drawing/2014/main" id="{241DC01E-8691-87FE-FE39-3711F419C305}"/>
              </a:ext>
            </a:extLst>
          </p:cNvPr>
          <p:cNvSpPr/>
          <p:nvPr/>
        </p:nvSpPr>
        <p:spPr>
          <a:xfrm>
            <a:off x="0" y="0"/>
            <a:ext cx="10799763" cy="7199313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49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D2D9EE9-23BB-6D9E-BE66-3BC1981538F0}"/>
              </a:ext>
            </a:extLst>
          </p:cNvPr>
          <p:cNvSpPr/>
          <p:nvPr/>
        </p:nvSpPr>
        <p:spPr>
          <a:xfrm>
            <a:off x="5795173" y="940287"/>
            <a:ext cx="860323" cy="431125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30E2534-E81F-6279-19FF-A095EF68B06E}"/>
              </a:ext>
            </a:extLst>
          </p:cNvPr>
          <p:cNvSpPr/>
          <p:nvPr/>
        </p:nvSpPr>
        <p:spPr>
          <a:xfrm>
            <a:off x="6782762" y="1474954"/>
            <a:ext cx="860323" cy="486514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07A99E6-5767-C3DE-F7AA-D7D07C69F397}"/>
              </a:ext>
            </a:extLst>
          </p:cNvPr>
          <p:cNvSpPr/>
          <p:nvPr/>
        </p:nvSpPr>
        <p:spPr>
          <a:xfrm>
            <a:off x="7770351" y="1474954"/>
            <a:ext cx="860323" cy="4316245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CA5D342-94C7-74B8-E378-270926843555}"/>
              </a:ext>
            </a:extLst>
          </p:cNvPr>
          <p:cNvSpPr/>
          <p:nvPr/>
        </p:nvSpPr>
        <p:spPr>
          <a:xfrm>
            <a:off x="8775018" y="1210536"/>
            <a:ext cx="860323" cy="4225064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372FF53-21D4-D58B-AEC3-6FD2777696A8}"/>
              </a:ext>
            </a:extLst>
          </p:cNvPr>
          <p:cNvSpPr/>
          <p:nvPr/>
        </p:nvSpPr>
        <p:spPr>
          <a:xfrm>
            <a:off x="9745529" y="1792729"/>
            <a:ext cx="860323" cy="3503598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8142ABC-F946-4027-DB80-5D277866D007}"/>
              </a:ext>
            </a:extLst>
          </p:cNvPr>
          <p:cNvSpPr/>
          <p:nvPr/>
        </p:nvSpPr>
        <p:spPr>
          <a:xfrm>
            <a:off x="4807584" y="1493602"/>
            <a:ext cx="860323" cy="4212107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190500" sx="102000" sy="102000" algn="ctr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2E322F9-EE9B-D8BD-D162-FD11337DBB7E}"/>
              </a:ext>
            </a:extLst>
          </p:cNvPr>
          <p:cNvSpPr txBox="1"/>
          <p:nvPr/>
        </p:nvSpPr>
        <p:spPr>
          <a:xfrm>
            <a:off x="1964084" y="368792"/>
            <a:ext cx="7407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>
                <a:ln>
                  <a:noFill/>
                </a:ln>
                <a:solidFill>
                  <a:srgbClr val="BE9C6D"/>
                </a:solidFill>
                <a:effectLst/>
                <a:uLnTx/>
                <a:uFillTx/>
                <a:latin typeface="Neue Haas Grotesk Text Pro" panose="020B0504020202020204" pitchFamily="34" charset="0"/>
                <a:ea typeface="+mn-ea"/>
                <a:cs typeface="+mn-cs"/>
              </a:rPr>
              <a:t>MULTIMODALIDADE</a:t>
            </a:r>
          </a:p>
        </p:txBody>
      </p:sp>
      <p:sp>
        <p:nvSpPr>
          <p:cNvPr id="2" name="Fluxograma: Processo Alternativo 1">
            <a:extLst>
              <a:ext uri="{FF2B5EF4-FFF2-40B4-BE49-F238E27FC236}">
                <a16:creationId xmlns:a16="http://schemas.microsoft.com/office/drawing/2014/main" id="{5FCFA52E-EE2C-FE86-5BB3-521DE8D809FF}"/>
              </a:ext>
            </a:extLst>
          </p:cNvPr>
          <p:cNvSpPr/>
          <p:nvPr/>
        </p:nvSpPr>
        <p:spPr>
          <a:xfrm>
            <a:off x="277422" y="1474954"/>
            <a:ext cx="3309418" cy="884584"/>
          </a:xfrm>
          <a:prstGeom prst="flowChartAlternateProcess">
            <a:avLst/>
          </a:prstGeom>
          <a:solidFill>
            <a:schemeClr val="tx1">
              <a:alpha val="72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pt-BR" sz="2000" b="1" dirty="0">
                <a:solidFill>
                  <a:schemeClr val="bg1"/>
                </a:solidFill>
                <a:latin typeface="Nexa Extra Light" panose="00000200000000000000" pitchFamily="2" charset="0"/>
              </a:rPr>
              <a:t>TEXTO</a:t>
            </a:r>
          </a:p>
        </p:txBody>
      </p:sp>
      <p:sp>
        <p:nvSpPr>
          <p:cNvPr id="3" name="Fluxograma: Processo Alternativo 2">
            <a:extLst>
              <a:ext uri="{FF2B5EF4-FFF2-40B4-BE49-F238E27FC236}">
                <a16:creationId xmlns:a16="http://schemas.microsoft.com/office/drawing/2014/main" id="{68E8E700-56AE-B581-57EB-D94DCB4D143F}"/>
              </a:ext>
            </a:extLst>
          </p:cNvPr>
          <p:cNvSpPr/>
          <p:nvPr/>
        </p:nvSpPr>
        <p:spPr>
          <a:xfrm>
            <a:off x="265080" y="2587726"/>
            <a:ext cx="3309418" cy="884584"/>
          </a:xfrm>
          <a:prstGeom prst="flowChartAlternateProcess">
            <a:avLst/>
          </a:prstGeom>
          <a:solidFill>
            <a:schemeClr val="tx1">
              <a:alpha val="72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pt-BR" sz="2000" b="1" dirty="0">
                <a:solidFill>
                  <a:schemeClr val="bg1"/>
                </a:solidFill>
                <a:latin typeface="Nexa Extra Light" panose="00000200000000000000" pitchFamily="2" charset="0"/>
              </a:rPr>
              <a:t>IMAGEM</a:t>
            </a:r>
          </a:p>
        </p:txBody>
      </p:sp>
      <p:sp>
        <p:nvSpPr>
          <p:cNvPr id="11" name="Fluxograma: Processo Alternativo 10">
            <a:extLst>
              <a:ext uri="{FF2B5EF4-FFF2-40B4-BE49-F238E27FC236}">
                <a16:creationId xmlns:a16="http://schemas.microsoft.com/office/drawing/2014/main" id="{4D4493FC-7CE5-A3A7-4AF2-CA9A14193677}"/>
              </a:ext>
            </a:extLst>
          </p:cNvPr>
          <p:cNvSpPr/>
          <p:nvPr/>
        </p:nvSpPr>
        <p:spPr>
          <a:xfrm>
            <a:off x="255289" y="3700498"/>
            <a:ext cx="3309418" cy="884584"/>
          </a:xfrm>
          <a:prstGeom prst="flowChartAlternateProcess">
            <a:avLst/>
          </a:prstGeom>
          <a:solidFill>
            <a:schemeClr val="tx1">
              <a:alpha val="72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pt-BR" sz="2000" b="1" dirty="0">
                <a:solidFill>
                  <a:schemeClr val="bg1"/>
                </a:solidFill>
                <a:latin typeface="Nexa Extra Light" panose="00000200000000000000" pitchFamily="2" charset="0"/>
              </a:rPr>
              <a:t>SOM</a:t>
            </a:r>
          </a:p>
        </p:txBody>
      </p:sp>
      <p:sp>
        <p:nvSpPr>
          <p:cNvPr id="12" name="Fluxograma: Processo Alternativo 11">
            <a:extLst>
              <a:ext uri="{FF2B5EF4-FFF2-40B4-BE49-F238E27FC236}">
                <a16:creationId xmlns:a16="http://schemas.microsoft.com/office/drawing/2014/main" id="{5D08FA55-99E0-D684-50AE-40969176B2E4}"/>
              </a:ext>
            </a:extLst>
          </p:cNvPr>
          <p:cNvSpPr/>
          <p:nvPr/>
        </p:nvSpPr>
        <p:spPr>
          <a:xfrm>
            <a:off x="242451" y="4788940"/>
            <a:ext cx="3309418" cy="884584"/>
          </a:xfrm>
          <a:prstGeom prst="flowChartAlternateProcess">
            <a:avLst/>
          </a:prstGeom>
          <a:solidFill>
            <a:schemeClr val="tx1">
              <a:alpha val="72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pt-BR" sz="2000" b="1" dirty="0">
                <a:solidFill>
                  <a:schemeClr val="bg1"/>
                </a:solidFill>
                <a:latin typeface="Nexa Extra Light" panose="00000200000000000000" pitchFamily="2" charset="0"/>
              </a:rPr>
              <a:t>DADOS</a:t>
            </a:r>
          </a:p>
        </p:txBody>
      </p:sp>
      <p:sp>
        <p:nvSpPr>
          <p:cNvPr id="24" name="Fluxograma: Processo Alternativo 23">
            <a:extLst>
              <a:ext uri="{FF2B5EF4-FFF2-40B4-BE49-F238E27FC236}">
                <a16:creationId xmlns:a16="http://schemas.microsoft.com/office/drawing/2014/main" id="{ED5902D6-AA94-FDBC-A066-41386DFDDC2D}"/>
              </a:ext>
            </a:extLst>
          </p:cNvPr>
          <p:cNvSpPr/>
          <p:nvPr/>
        </p:nvSpPr>
        <p:spPr>
          <a:xfrm>
            <a:off x="265080" y="5897805"/>
            <a:ext cx="3309418" cy="884584"/>
          </a:xfrm>
          <a:prstGeom prst="flowChartAlternateProcess">
            <a:avLst/>
          </a:prstGeom>
          <a:solidFill>
            <a:schemeClr val="tx1">
              <a:alpha val="72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pt-BR" sz="2000" b="1" dirty="0">
                <a:solidFill>
                  <a:schemeClr val="bg1"/>
                </a:solidFill>
                <a:latin typeface="Nexa Extra Light" panose="00000200000000000000" pitchFamily="2" charset="0"/>
              </a:rPr>
              <a:t>FERRAMENTAS </a:t>
            </a:r>
          </a:p>
          <a:p>
            <a:pPr lvl="0" algn="ctr">
              <a:defRPr/>
            </a:pPr>
            <a:r>
              <a:rPr lang="pt-BR" sz="2000" b="1" dirty="0">
                <a:solidFill>
                  <a:srgbClr val="BE9C6D"/>
                </a:solidFill>
                <a:latin typeface="Nexa Extra Light" panose="00000200000000000000" pitchFamily="2" charset="0"/>
              </a:rPr>
              <a:t>(</a:t>
            </a:r>
            <a:r>
              <a:rPr lang="pt-BR" sz="2000" b="1" dirty="0" err="1">
                <a:solidFill>
                  <a:srgbClr val="BE9C6D"/>
                </a:solidFill>
                <a:latin typeface="Nexa Extra Light" panose="00000200000000000000" pitchFamily="2" charset="0"/>
              </a:rPr>
              <a:t>ReAct</a:t>
            </a:r>
            <a:r>
              <a:rPr lang="pt-BR" sz="2000" b="1" dirty="0">
                <a:solidFill>
                  <a:srgbClr val="BE9C6D"/>
                </a:solidFill>
                <a:latin typeface="Nexa Extra Light" panose="00000200000000000000" pitchFamily="2" charset="0"/>
              </a:rPr>
              <a:t>, </a:t>
            </a:r>
            <a:r>
              <a:rPr lang="pt-BR" sz="2000" b="1">
                <a:solidFill>
                  <a:srgbClr val="BE9C6D"/>
                </a:solidFill>
                <a:latin typeface="Nexa Extra Light" panose="00000200000000000000" pitchFamily="2" charset="0"/>
              </a:rPr>
              <a:t>RAG etc.)</a:t>
            </a:r>
            <a:endParaRPr lang="pt-BR" sz="2000" b="1" dirty="0">
              <a:solidFill>
                <a:srgbClr val="BE9C6D"/>
              </a:solidFill>
              <a:latin typeface="Nexa Extra Light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736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2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9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2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  <p:bldP spid="3" grpId="0" animBg="1"/>
      <p:bldP spid="3" grpId="1" animBg="1"/>
      <p:bldP spid="3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24" grpId="0" animBg="1"/>
      <p:bldP spid="24" grpId="1" animBg="1"/>
      <p:bldP spid="24" grpId="2" animBg="1"/>
    </p:bld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22451</TotalTime>
  <Words>30</Words>
  <Application>Microsoft Office PowerPoint</Application>
  <PresentationFormat>Personalizar</PresentationFormat>
  <Paragraphs>13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Nexa Extra Light</vt:lpstr>
      <vt:lpstr>Arial</vt:lpstr>
      <vt:lpstr>Aptos Display</vt:lpstr>
      <vt:lpstr>Aptos</vt:lpstr>
      <vt:lpstr>Neue Haas Grotesk Text Pro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Marmelstein</dc:creator>
  <cp:lastModifiedBy>George Marmelstein</cp:lastModifiedBy>
  <cp:revision>266</cp:revision>
  <dcterms:created xsi:type="dcterms:W3CDTF">2025-06-19T13:51:07Z</dcterms:created>
  <dcterms:modified xsi:type="dcterms:W3CDTF">2025-10-29T12:44:12Z</dcterms:modified>
</cp:coreProperties>
</file>